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FA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AAACC"/>
                </a:solidFill>
                <a:latin typeface="Microsoft YaHei"/>
              </a:defRPr>
            </a:pPr>
            <a:r>
              <a:t>DECISION ADVISORY REPORT · ZHEJIANG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22860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AAAACC"/>
                </a:solidFill>
                <a:latin typeface="Microsoft YaHei"/>
              </a:defRPr>
            </a:pPr>
            <a:r>
              <a:t>01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10058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5200" b="1">
                <a:solidFill>
                  <a:srgbClr val="FFFFFF"/>
                </a:solidFill>
                <a:latin typeface="Microsoft YaHei"/>
              </a:defRPr>
            </a:pPr>
            <a:r>
              <a:t>降低浙江家庭</a:t>
            </a:r>
            <a:br/>
            <a:r>
              <a:t>生育养育教育成本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931920"/>
            <a:ext cx="2286000" cy="50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29768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CCCCDD"/>
                </a:solidFill>
                <a:latin typeface="Microsoft YaHei"/>
              </a:defRPr>
            </a:pPr>
            <a:r>
              <a:t>围绕降成本、优服务、稳预期系统施策</a:t>
            </a:r>
            <a:br/>
            <a:r>
              <a:t>切实减轻家庭生育养育教育负担，增强群众生育信心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30352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9999BB"/>
                </a:solidFill>
                <a:latin typeface="Microsoft YaHei"/>
              </a:defRPr>
            </a:pPr>
            <a:r>
              <a:t>浙江省人口与家庭发展研究专题 · 2026年5月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737373"/>
                </a:solidFill>
                <a:latin typeface="Microsoft YaHei"/>
              </a:defRPr>
            </a:pPr>
            <a:r>
              <a:t>决策咨询专报 · 2026.05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22860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737373"/>
                </a:solidFill>
                <a:latin typeface="Microsoft YaHei"/>
              </a:defRPr>
            </a:pPr>
            <a:r>
              <a:t>02 /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30352"/>
            <a:ext cx="1109441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58368"/>
            <a:ext cx="50800" cy="4572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4008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0A0A0A"/>
                </a:solidFill>
                <a:latin typeface="Microsoft YaHei"/>
              </a:defRPr>
            </a:pPr>
            <a:r>
              <a:t>编者按 · 核心数据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10058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0A0A0A"/>
                </a:solidFill>
                <a:latin typeface="Microsoft YaHei"/>
              </a:defRPr>
            </a:pPr>
            <a:r>
              <a:t>生育、养育、教育成本偏高，已成为影响浙江青年婚育意愿的重要因素。浙江民营经济活跃、人口流动性强、家庭对子女发展投入意愿高，但住房、托育、教育等刚性支出压力也较为突出。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926080"/>
            <a:ext cx="2606040" cy="237744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2194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737373"/>
                </a:solidFill>
                <a:latin typeface="Microsoft YaHei"/>
              </a:defRPr>
            </a:pPr>
            <a:r>
              <a:t>浙江省出生率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21945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400" b="1">
                <a:solidFill>
                  <a:srgbClr val="002FA7"/>
                </a:solidFill>
                <a:latin typeface="Microsoft YaHei"/>
              </a:defRPr>
            </a:pPr>
            <a:r>
              <a:t>6.6‰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737373"/>
                </a:solidFill>
                <a:latin typeface="Microsoft YaHei"/>
              </a:defRPr>
            </a:pPr>
            <a:r>
              <a:t>2024年·创近年新低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2926080"/>
            <a:ext cx="2606040" cy="237744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3200400"/>
            <a:ext cx="2194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737373"/>
                </a:solidFill>
                <a:latin typeface="Microsoft YaHei"/>
              </a:defRPr>
            </a:pPr>
            <a:r>
              <a:t>浙江常住人口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657600"/>
            <a:ext cx="21945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400" b="1">
                <a:solidFill>
                  <a:srgbClr val="002FA7"/>
                </a:solidFill>
                <a:latin typeface="Microsoft YaHei"/>
              </a:defRPr>
            </a:pPr>
            <a:r>
              <a:t>6,670万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457200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737373"/>
                </a:solidFill>
                <a:latin typeface="Microsoft YaHei"/>
              </a:defRPr>
            </a:pPr>
            <a:r>
              <a:t>2024年末·结构优化阶段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926080"/>
            <a:ext cx="2606040" cy="237744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200400"/>
            <a:ext cx="2194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737373"/>
                </a:solidFill>
                <a:latin typeface="Microsoft YaHei"/>
              </a:defRPr>
            </a:pPr>
            <a:r>
              <a:t>千人口托位数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657600"/>
            <a:ext cx="21945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400" b="1">
                <a:solidFill>
                  <a:srgbClr val="002FA7"/>
                </a:solidFill>
                <a:latin typeface="Microsoft YaHei"/>
              </a:defRPr>
            </a:pPr>
            <a:r>
              <a:t>3.38个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57200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737373"/>
                </a:solidFill>
                <a:latin typeface="Microsoft YaHei"/>
              </a:defRPr>
            </a:pPr>
            <a:r>
              <a:t>2023年全国·供给不足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52560" y="2926080"/>
            <a:ext cx="2606040" cy="237744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3200400"/>
            <a:ext cx="2194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737373"/>
                </a:solidFill>
                <a:latin typeface="Microsoft YaHei"/>
              </a:defRPr>
            </a:pPr>
            <a:r>
              <a:t>学前教育毛入园率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3657600"/>
            <a:ext cx="21945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400" b="1">
                <a:solidFill>
                  <a:srgbClr val="002FA7"/>
                </a:solidFill>
                <a:latin typeface="Microsoft YaHei"/>
              </a:defRPr>
            </a:pPr>
            <a:r>
              <a:t>91.1%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457200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737373"/>
                </a:solidFill>
                <a:latin typeface="Microsoft YaHei"/>
              </a:defRPr>
            </a:pPr>
            <a:r>
              <a:t>2023年全国·普及水平较高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737373"/>
                </a:solidFill>
                <a:latin typeface="Microsoft YaHei"/>
              </a:defRPr>
            </a:pPr>
            <a:r>
              <a:t>数据来源：国家卫生健康委 · 浙江省统计局 · 教育部公报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737373"/>
                </a:solidFill>
                <a:latin typeface="Microsoft YaHei"/>
              </a:defRPr>
            </a:pPr>
            <a:r>
              <a:t>决策咨询专报 · 2026.05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22860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737373"/>
                </a:solidFill>
                <a:latin typeface="Microsoft YaHei"/>
              </a:defRPr>
            </a:pPr>
            <a:r>
              <a:t>03 /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30352"/>
            <a:ext cx="1109441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4114800" cy="512064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9999BB"/>
                </a:solidFill>
                <a:latin typeface="Microsoft YaHei"/>
              </a:defRPr>
            </a:pPr>
            <a:r>
              <a:t>WHY IT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329184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制约生育</a:t>
            </a:r>
            <a:br/>
            <a:r>
              <a:t>意愿的</a:t>
            </a:r>
            <a:br/>
            <a:r>
              <a:t>三大因素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06240"/>
            <a:ext cx="32918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AAACC"/>
                </a:solidFill>
                <a:latin typeface="Microsoft YaHei"/>
              </a:defRPr>
            </a:pPr>
            <a:r>
              <a:t>国家卫生健康委全国人口监测调查显示</a:t>
            </a:r>
            <a:br/>
            <a:r>
              <a:t>经济负担、婴幼儿照护负担</a:t>
            </a:r>
            <a:br/>
            <a:r>
              <a:t>和女性职业发展压力是关键因素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77799"/>
                </a:solidFill>
                <a:latin typeface="Microsoft YaHei"/>
              </a:defRPr>
            </a:pPr>
            <a:r>
              <a:t>人口问题事关现代化建设全局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097280"/>
            <a:ext cx="6583680" cy="155448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0" y="1207008"/>
            <a:ext cx="914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002FA7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23444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0A0A0A"/>
                </a:solidFill>
                <a:latin typeface="Microsoft YaHei"/>
              </a:defRPr>
            </a:pPr>
            <a:r>
              <a:t>经济负担重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645920"/>
            <a:ext cx="5029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0A0A0A"/>
                </a:solidFill>
                <a:latin typeface="Microsoft YaHei"/>
              </a:defRPr>
            </a:pPr>
            <a:r>
              <a:t>住房、托育、教育等刚性支出压力突出，育儿补贴制度尚未健全，生育"首期成本"过高。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2834639"/>
            <a:ext cx="6583680" cy="155448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60" y="2944367"/>
            <a:ext cx="914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002FA7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971799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0A0A0A"/>
                </a:solidFill>
                <a:latin typeface="Microsoft YaHei"/>
              </a:defRPr>
            </a:pPr>
            <a:r>
              <a:t>婴幼儿照护难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383279"/>
            <a:ext cx="5029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0A0A0A"/>
                </a:solidFill>
                <a:latin typeface="Microsoft YaHei"/>
              </a:defRPr>
            </a:pPr>
            <a:r>
              <a:t>全国千人口托位数仅3.38个，浙江双职工家庭集中，对就近普惠托育需求更加迫切。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0" y="4572000"/>
            <a:ext cx="6583680" cy="155448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0" y="4681728"/>
            <a:ext cx="914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002FA7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70916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0A0A0A"/>
                </a:solidFill>
                <a:latin typeface="Microsoft YaHei"/>
              </a:defRPr>
            </a:pPr>
            <a:r>
              <a:t>女性职业发展压力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5120640"/>
            <a:ext cx="5029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0A0A0A"/>
                </a:solidFill>
                <a:latin typeface="Microsoft YaHei"/>
              </a:defRPr>
            </a:pPr>
            <a:r>
              <a:t>生育后职业中断、晋升受限问题敏感，生育机会成本偏高、再生育意愿降低。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737373"/>
                </a:solidFill>
                <a:latin typeface="Microsoft YaHei"/>
              </a:defRPr>
            </a:pPr>
            <a:r>
              <a:t>决策咨询专报 · 2026.05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22860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737373"/>
                </a:solidFill>
                <a:latin typeface="Microsoft YaHei"/>
              </a:defRPr>
            </a:pPr>
            <a:r>
              <a:t>04 /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30352"/>
            <a:ext cx="1109441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58368"/>
            <a:ext cx="1097280" cy="381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4008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0A0A0A"/>
                </a:solidFill>
                <a:latin typeface="Microsoft YaHei"/>
              </a:defRPr>
            </a:pPr>
            <a:r>
              <a:t>二、存在问题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18872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A0A0A"/>
                </a:solidFill>
                <a:latin typeface="Microsoft YaHei"/>
              </a:defRPr>
            </a:pPr>
            <a:r>
              <a:t>四重压力叠加，青年家庭负重前行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737373"/>
                </a:solidFill>
                <a:latin typeface="Microsoft YaHei"/>
              </a:defRPr>
            </a:pPr>
            <a:r>
              <a:t>制约生育意愿的关键已从"能不能生"转向"养不养得起、教不教得好"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2606040" cy="420624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40280"/>
            <a:ext cx="457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002FA7"/>
                </a:solidFill>
                <a:latin typeface="Microsoft YaHei"/>
              </a:defRPr>
            </a:pPr>
            <a:r>
              <a:t>—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60320"/>
            <a:ext cx="22402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A0A0A"/>
                </a:solidFill>
                <a:latin typeface="Microsoft YaHei"/>
              </a:defRPr>
            </a:pPr>
            <a:r>
              <a:t>生育直接</a:t>
            </a:r>
            <a:br/>
            <a:r>
              <a:t>成本仍然不低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224028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0A0A0A"/>
                </a:solidFill>
                <a:latin typeface="Microsoft YaHei"/>
              </a:defRPr>
            </a:pPr>
            <a:r>
              <a:t>孕产检查、分娩陪护、产后康复等延伸支出较多，对二孩三孩家庭形成现实压力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2103120"/>
            <a:ext cx="2606040" cy="420624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240280"/>
            <a:ext cx="457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002FA7"/>
                </a:solidFill>
                <a:latin typeface="Microsoft YaHei"/>
              </a:defRPr>
            </a:pPr>
            <a:r>
              <a:t>—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560320"/>
            <a:ext cx="22402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A0A0A"/>
                </a:solidFill>
                <a:latin typeface="Microsoft YaHei"/>
              </a:defRPr>
            </a:pPr>
            <a:r>
              <a:t>托育服务</a:t>
            </a:r>
            <a:br/>
            <a:r>
              <a:t>供需矛盾突出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474720"/>
            <a:ext cx="224028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0A0A0A"/>
                </a:solidFill>
                <a:latin typeface="Microsoft YaHei"/>
              </a:defRPr>
            </a:pPr>
            <a:r>
              <a:t>千人口托位数仅3.38个，双职工家庭对就近、普惠、放心的托育需求迫切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103120"/>
            <a:ext cx="2606040" cy="420624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240280"/>
            <a:ext cx="457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002FA7"/>
                </a:solidFill>
                <a:latin typeface="Microsoft YaHei"/>
              </a:defRPr>
            </a:pPr>
            <a:r>
              <a:t>—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560320"/>
            <a:ext cx="22402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A0A0A"/>
                </a:solidFill>
                <a:latin typeface="Microsoft YaHei"/>
              </a:defRPr>
            </a:pPr>
            <a:r>
              <a:t>教育支出</a:t>
            </a:r>
            <a:br/>
            <a:r>
              <a:t>焦虑抬高成本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474720"/>
            <a:ext cx="224028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0A0A0A"/>
                </a:solidFill>
                <a:latin typeface="Microsoft YaHei"/>
              </a:defRPr>
            </a:pPr>
            <a:r>
              <a:t>学前教育毛入园率91.1%，但优质资源竞争激烈，教育隐性支出不容忽视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2103120"/>
            <a:ext cx="2606040" cy="420624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2240280"/>
            <a:ext cx="457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002FA7"/>
                </a:solidFill>
                <a:latin typeface="Microsoft YaHei"/>
              </a:defRPr>
            </a:pPr>
            <a:r>
              <a:t>— 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560320"/>
            <a:ext cx="22402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A0A0A"/>
                </a:solidFill>
                <a:latin typeface="Microsoft YaHei"/>
              </a:defRPr>
            </a:pPr>
            <a:r>
              <a:t>住房就业压力</a:t>
            </a:r>
            <a:br/>
            <a:r>
              <a:t>外溢到生育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3474720"/>
            <a:ext cx="224028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0A0A0A"/>
                </a:solidFill>
                <a:latin typeface="Microsoft YaHei"/>
              </a:defRPr>
            </a:pPr>
            <a:r>
              <a:t>房租房贷、通勤压力叠加女性职业中断风险，生育机会成本偏高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737373"/>
                </a:solidFill>
                <a:latin typeface="Microsoft YaHei"/>
              </a:defRPr>
            </a:pPr>
            <a:r>
              <a:t>数据来源：国家卫健委《2023年卫生健康事业发展统计公报》· 教育部公报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737373"/>
                </a:solidFill>
                <a:latin typeface="Microsoft YaHei"/>
              </a:defRPr>
            </a:pPr>
            <a:r>
              <a:t>决策咨询专报 · 2026.05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22860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737373"/>
                </a:solidFill>
                <a:latin typeface="Microsoft YaHei"/>
              </a:defRPr>
            </a:pPr>
            <a:r>
              <a:t>05 /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30352"/>
            <a:ext cx="1109441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4008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002FA7"/>
                </a:solidFill>
                <a:latin typeface="Microsoft YaHei"/>
              </a:defRPr>
            </a:pPr>
            <a:r>
              <a:t>ISSUES 01 &amp;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0A0A0A"/>
                </a:solidFill>
                <a:latin typeface="Microsoft YaHei"/>
              </a:defRPr>
            </a:pPr>
            <a:r>
              <a:t>生育成本与托育服务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5303520" cy="45720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02FA7"/>
                </a:solidFill>
                <a:latin typeface="Microsoft YaHei"/>
              </a:defRPr>
            </a:pPr>
            <a:r>
              <a:t>问题一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5740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0A0A0A"/>
                </a:solidFill>
                <a:latin typeface="Microsoft YaHei"/>
              </a:defRPr>
            </a:pPr>
            <a:r>
              <a:t>生育直接成本仍然不低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468880"/>
            <a:ext cx="137160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74320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0A0A0A"/>
                </a:solidFill>
                <a:latin typeface="Microsoft YaHei"/>
              </a:defRPr>
            </a:pPr>
            <a:r>
              <a:t>— 孕产检查、分娩陪护、产后康复等延伸支出项目多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291839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0A0A0A"/>
                </a:solidFill>
                <a:latin typeface="Microsoft YaHei"/>
              </a:defRPr>
            </a:pPr>
            <a:r>
              <a:t>— 生育"一次性投入"对二孩、三孩家庭形成现实压力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84048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0A0A0A"/>
                </a:solidFill>
                <a:latin typeface="Microsoft YaHei"/>
              </a:defRPr>
            </a:pPr>
            <a:r>
              <a:t>— 母婴消费、住院分娩等支出项目分散，缺乏整合性支持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663440"/>
            <a:ext cx="4754880" cy="109728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800600"/>
            <a:ext cx="2743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737373"/>
                </a:solidFill>
                <a:latin typeface="Microsoft YaHei"/>
              </a:defRPr>
            </a:pPr>
            <a:r>
              <a:t>核心痛点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983480"/>
            <a:ext cx="43891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A0A0A"/>
                </a:solidFill>
                <a:latin typeface="Microsoft YaHei"/>
              </a:defRPr>
            </a:pPr>
            <a:r>
              <a:t>生育"首期成本"过高，政策获得感不足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645920"/>
            <a:ext cx="5303520" cy="45720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828800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02FA7"/>
                </a:solidFill>
                <a:latin typeface="Microsoft YaHei"/>
              </a:defRPr>
            </a:pPr>
            <a:r>
              <a:t>问题二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05740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0A0A0A"/>
                </a:solidFill>
                <a:latin typeface="Microsoft YaHei"/>
              </a:defRPr>
            </a:pPr>
            <a:r>
              <a:t>托育服务供需矛盾突出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2468880"/>
            <a:ext cx="137160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74320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0A0A0A"/>
                </a:solidFill>
                <a:latin typeface="Microsoft YaHei"/>
              </a:defRPr>
            </a:pPr>
            <a:r>
              <a:t>— 全国千人口托位数仅3.38个，普惠供给总体不足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291839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0A0A0A"/>
                </a:solidFill>
                <a:latin typeface="Microsoft YaHei"/>
              </a:defRPr>
            </a:pPr>
            <a:r>
              <a:t>— 浙江双职工家庭集中，就近、普惠、放心托育需求迫切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84048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0A0A0A"/>
                </a:solidFill>
                <a:latin typeface="Microsoft YaHei"/>
              </a:defRPr>
            </a:pPr>
            <a:r>
              <a:t>— 托育机构运营成本高，师资、安全标准不统一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4663440"/>
            <a:ext cx="4754880" cy="109728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4800600"/>
            <a:ext cx="2743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737373"/>
                </a:solidFill>
                <a:latin typeface="Microsoft YaHei"/>
              </a:defRPr>
            </a:pPr>
            <a:r>
              <a:t>核心痛点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983480"/>
            <a:ext cx="43891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A0A0A"/>
                </a:solidFill>
                <a:latin typeface="Microsoft YaHei"/>
              </a:defRPr>
            </a:pPr>
            <a:r>
              <a:t>普惠托育"够不着、信不过、付不起"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737373"/>
                </a:solidFill>
                <a:latin typeface="Microsoft YaHei"/>
              </a:defRPr>
            </a:pPr>
            <a:r>
              <a:t>决策咨询专报 · 2026.05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22860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737373"/>
                </a:solidFill>
                <a:latin typeface="Microsoft YaHei"/>
              </a:defRPr>
            </a:pPr>
            <a:r>
              <a:t>06 /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30352"/>
            <a:ext cx="1109441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"/>
            <a:ext cx="12191695" cy="329184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0" y="1371600"/>
            <a:ext cx="4572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737373"/>
                </a:solidFill>
                <a:latin typeface="Microsoft YaHei"/>
              </a:defRPr>
            </a:pPr>
            <a:r>
              <a:t>配图位置</a:t>
            </a:r>
            <a:br/>
            <a:r>
              <a:t>教育焦虑 · 住房压力 · 生育负反馈循环</a:t>
            </a:r>
            <a:br/>
            <a:br/>
            <a:r>
              <a:t>21:9 超宽幅 · 建议替换为数据图或实景照片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4114800" cy="146304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36576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0A0A0A"/>
                </a:solidFill>
                <a:latin typeface="Microsoft YaHei"/>
              </a:defRPr>
            </a:pPr>
            <a:r>
              <a:t>教育焦虑</a:t>
            </a:r>
            <a:br/>
            <a:r>
              <a:t>与住房就业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389120"/>
            <a:ext cx="12700" cy="32004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434840"/>
            <a:ext cx="32918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737373"/>
                </a:solidFill>
                <a:latin typeface="Microsoft YaHei"/>
              </a:defRPr>
            </a:pPr>
            <a:r>
              <a:t>教育隐性支出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63440"/>
            <a:ext cx="3291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A0A0A"/>
                </a:solidFill>
                <a:latin typeface="Microsoft YaHei"/>
              </a:defRPr>
            </a:pPr>
            <a:r>
              <a:t>持续攀升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303520"/>
            <a:ext cx="12700" cy="18288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394960"/>
            <a:ext cx="32918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0A0A0A"/>
                </a:solidFill>
                <a:latin typeface="Microsoft YaHei"/>
              </a:defRPr>
            </a:pPr>
            <a:r>
              <a:t>学前教育毛入园率91.1%，但优质资源竞争激烈，校外培训与择校支出不减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79" y="4389120"/>
            <a:ext cx="12700" cy="32004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79" y="4434840"/>
            <a:ext cx="32918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737373"/>
                </a:solidFill>
                <a:latin typeface="Microsoft YaHei"/>
              </a:defRPr>
            </a:pPr>
            <a:r>
              <a:t>住房刚性压力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79" y="4663440"/>
            <a:ext cx="3291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A0A0A"/>
                </a:solidFill>
                <a:latin typeface="Microsoft YaHei"/>
              </a:defRPr>
            </a:pPr>
            <a:r>
              <a:t>不可忽视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79" y="5303520"/>
            <a:ext cx="12700" cy="18288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79" y="5394960"/>
            <a:ext cx="32918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0A0A0A"/>
                </a:solidFill>
                <a:latin typeface="Microsoft YaHei"/>
              </a:defRPr>
            </a:pPr>
            <a:r>
              <a:t>城镇化水平高，青年家庭面临房租房贷与通勤多重压力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19" y="4389120"/>
            <a:ext cx="12700" cy="32004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9" y="4434840"/>
            <a:ext cx="32918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737373"/>
                </a:solidFill>
                <a:latin typeface="Microsoft YaHei"/>
              </a:defRPr>
            </a:pPr>
            <a:r>
              <a:t>生育机会成本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9" y="4663440"/>
            <a:ext cx="3291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02FA7"/>
                </a:solidFill>
                <a:latin typeface="Microsoft YaHei"/>
              </a:defRPr>
            </a:pPr>
            <a:r>
              <a:t>偏高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19" y="5303520"/>
            <a:ext cx="12700" cy="18288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19" y="5394960"/>
            <a:ext cx="32918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0A0A0A"/>
                </a:solidFill>
                <a:latin typeface="Microsoft YaHei"/>
              </a:defRPr>
            </a:pPr>
            <a:r>
              <a:t>女性生育后职业中断、晋升受限，再生育意愿持续降低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737373"/>
                </a:solidFill>
                <a:latin typeface="Microsoft YaHei"/>
              </a:defRPr>
            </a:pPr>
            <a:r>
              <a:t>数据来源：教育部《2023年全国教育事业发展统计公报》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737373"/>
                </a:solidFill>
                <a:latin typeface="Microsoft YaHei"/>
              </a:defRPr>
            </a:pPr>
            <a:r>
              <a:t>决策咨询专报 · 2026.05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22860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737373"/>
                </a:solidFill>
                <a:latin typeface="Microsoft YaHei"/>
              </a:defRPr>
            </a:pPr>
            <a:r>
              <a:t>07 /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30352"/>
            <a:ext cx="1109441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58368"/>
            <a:ext cx="1097280" cy="381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4008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0A0A0A"/>
                </a:solidFill>
                <a:latin typeface="Microsoft YaHei"/>
              </a:defRPr>
            </a:pPr>
            <a:r>
              <a:t>三、对策建议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18872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A0A0A"/>
                </a:solidFill>
                <a:latin typeface="Microsoft YaHei"/>
              </a:defRPr>
            </a:pPr>
            <a:r>
              <a:t>降成本 · 优服务 · 稳预期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737373"/>
                </a:solidFill>
                <a:latin typeface="Microsoft YaHei"/>
              </a:defRPr>
            </a:pPr>
            <a:r>
              <a:t>围绕三大主线系统施策，构建生育友好型社会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2606040" cy="420624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40280"/>
            <a:ext cx="457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002FA7"/>
                </a:solidFill>
                <a:latin typeface="Microsoft YaHei"/>
              </a:defRPr>
            </a:pPr>
            <a:r>
              <a:t>—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60320"/>
            <a:ext cx="22402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0A0A0A"/>
                </a:solidFill>
                <a:latin typeface="Microsoft YaHei"/>
              </a:defRPr>
            </a:pPr>
            <a:r>
              <a:t>完善生育支持</a:t>
            </a:r>
            <a:br/>
            <a:r>
              <a:t>与医疗减负政策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22402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0A0A0A"/>
                </a:solidFill>
                <a:latin typeface="Microsoft YaHei"/>
              </a:defRPr>
            </a:pPr>
            <a:r>
              <a:t>优化医保支付、建立省级育儿</a:t>
            </a:r>
            <a:br/>
            <a:r>
              <a:t>补贴制度、整合政策包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03520"/>
            <a:ext cx="2240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2FA7"/>
                </a:solidFill>
                <a:latin typeface="Microsoft YaHei"/>
              </a:defRPr>
            </a:pPr>
            <a:r>
              <a:t>→ 降低"首期成本"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2103120"/>
            <a:ext cx="2606040" cy="420624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2240280"/>
            <a:ext cx="457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002FA7"/>
                </a:solidFill>
                <a:latin typeface="Microsoft YaHei"/>
              </a:defRPr>
            </a:pPr>
            <a:r>
              <a:t>— 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560320"/>
            <a:ext cx="22402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0A0A0A"/>
                </a:solidFill>
                <a:latin typeface="Microsoft YaHei"/>
              </a:defRPr>
            </a:pPr>
            <a:r>
              <a:t>构建普惠可及</a:t>
            </a:r>
            <a:br/>
            <a:r>
              <a:t>托育服务体系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474720"/>
            <a:ext cx="22402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0A0A0A"/>
                </a:solidFill>
                <a:latin typeface="Microsoft YaHei"/>
              </a:defRPr>
            </a:pPr>
            <a:r>
              <a:t>"15分钟托育服务圈"、多方办</a:t>
            </a:r>
            <a:br/>
            <a:r>
              <a:t>托、按入托人数运营补贴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5303520"/>
            <a:ext cx="2240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2FA7"/>
                </a:solidFill>
                <a:latin typeface="Microsoft YaHei"/>
              </a:defRPr>
            </a:pPr>
            <a:r>
              <a:t>→ 破解"入托难"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103120"/>
            <a:ext cx="2606040" cy="420624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240280"/>
            <a:ext cx="457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002FA7"/>
                </a:solidFill>
                <a:latin typeface="Microsoft YaHei"/>
              </a:defRPr>
            </a:pPr>
            <a:r>
              <a:t>— 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560320"/>
            <a:ext cx="22402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0A0A0A"/>
                </a:solidFill>
                <a:latin typeface="Microsoft YaHei"/>
              </a:defRPr>
            </a:pPr>
            <a:r>
              <a:t>压减教育</a:t>
            </a:r>
            <a:br/>
            <a:r>
              <a:t>"隐性支出"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474720"/>
            <a:ext cx="22402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0A0A0A"/>
                </a:solidFill>
                <a:latin typeface="Microsoft YaHei"/>
              </a:defRPr>
            </a:pPr>
            <a:r>
              <a:t>优质均衡发展、课后服务提质</a:t>
            </a:r>
            <a:br/>
            <a:r>
              <a:t>收费清单化公开化管理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303520"/>
            <a:ext cx="2240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2FA7"/>
                </a:solidFill>
                <a:latin typeface="Microsoft YaHei"/>
              </a:defRPr>
            </a:pPr>
            <a:r>
              <a:t>→ 缓解"教育焦虑"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2560" y="2103120"/>
            <a:ext cx="2606040" cy="420624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2240280"/>
            <a:ext cx="457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002FA7"/>
                </a:solidFill>
                <a:latin typeface="Microsoft YaHei"/>
              </a:defRPr>
            </a:pPr>
            <a:r>
              <a:t>— 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2560320"/>
            <a:ext cx="22402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0A0A0A"/>
                </a:solidFill>
                <a:latin typeface="Microsoft YaHei"/>
              </a:defRPr>
            </a:pPr>
            <a:r>
              <a:t>住房就业</a:t>
            </a:r>
            <a:br/>
            <a:r>
              <a:t>家庭支持政策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3474720"/>
            <a:ext cx="22402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0A0A0A"/>
                </a:solidFill>
                <a:latin typeface="Microsoft YaHei"/>
              </a:defRPr>
            </a:pPr>
            <a:r>
              <a:t>住房倾斜、生育假期成本共担</a:t>
            </a:r>
            <a:br/>
            <a:r>
              <a:t>弹性工作、"妈妈岗"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5303520"/>
            <a:ext cx="2240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2FA7"/>
                </a:solidFill>
                <a:latin typeface="Microsoft YaHei"/>
              </a:defRPr>
            </a:pPr>
            <a:r>
              <a:t>→ 降低"机会成本"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737373"/>
                </a:solidFill>
                <a:latin typeface="Microsoft YaHei"/>
              </a:defRPr>
            </a:pPr>
            <a:r>
              <a:t>决策咨询专报 · 2026.05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22860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737373"/>
                </a:solidFill>
                <a:latin typeface="Microsoft YaHei"/>
              </a:defRPr>
            </a:pPr>
            <a:r>
              <a:t>08 /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30352"/>
            <a:ext cx="1109441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4008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002FA7"/>
                </a:solidFill>
                <a:latin typeface="Microsoft YaHei"/>
              </a:defRPr>
            </a:pPr>
            <a:r>
              <a:t>MEASURES 01 &amp;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0A0A0A"/>
                </a:solidFill>
                <a:latin typeface="Microsoft YaHei"/>
              </a:defRPr>
            </a:pPr>
            <a:r>
              <a:t>生育支持 + 普惠托育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5303520" cy="45720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02FA7"/>
                </a:solidFill>
                <a:latin typeface="Microsoft YaHei"/>
              </a:defRPr>
            </a:pPr>
            <a:r>
              <a:t>措施一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5740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0A0A0A"/>
                </a:solidFill>
                <a:latin typeface="Microsoft YaHei"/>
              </a:defRPr>
            </a:pPr>
            <a:r>
              <a:t>完善生育支持与医疗减负政策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468880"/>
            <a:ext cx="137160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74320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0A0A0A"/>
                </a:solidFill>
                <a:latin typeface="Microsoft YaHei"/>
              </a:defRPr>
            </a:pPr>
            <a:r>
              <a:t>— 推动孕检、分娩、产后康复纳入医保优化支付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291839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0A0A0A"/>
                </a:solidFill>
                <a:latin typeface="Microsoft YaHei"/>
              </a:defRPr>
            </a:pPr>
            <a:r>
              <a:t>— 省级统筹育儿补贴：0-3岁稳定补助，二孩三孩提标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84048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0A0A0A"/>
                </a:solidFill>
                <a:latin typeface="Microsoft YaHei"/>
              </a:defRPr>
            </a:pPr>
            <a:r>
              <a:t>— 母婴消费券+住院分娩补助整合，增强获得感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663440"/>
            <a:ext cx="4754880" cy="109728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800600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002FA7"/>
                </a:solidFill>
                <a:latin typeface="Microsoft YaHei"/>
              </a:defRPr>
            </a:pPr>
            <a:r>
              <a:t>核心目标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983480"/>
            <a:ext cx="43891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A0A0A"/>
                </a:solidFill>
                <a:latin typeface="Microsoft YaHei"/>
              </a:defRPr>
            </a:pPr>
            <a:r>
              <a:t>降低生育"首期成本"，让家庭"生得起"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645920"/>
            <a:ext cx="5303520" cy="45720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828800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02FA7"/>
                </a:solidFill>
                <a:latin typeface="Microsoft YaHei"/>
              </a:defRPr>
            </a:pPr>
            <a:r>
              <a:t>措施二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05740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0A0A0A"/>
                </a:solidFill>
                <a:latin typeface="Microsoft YaHei"/>
              </a:defRPr>
            </a:pPr>
            <a:r>
              <a:t>构建普惠可及托育服务体系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2468880"/>
            <a:ext cx="137160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74320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0A0A0A"/>
                </a:solidFill>
                <a:latin typeface="Microsoft YaHei"/>
              </a:defRPr>
            </a:pPr>
            <a:r>
              <a:t>— 实施"15分钟托育服务圈"，人口净流入区优先布局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291839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0A0A0A"/>
                </a:solidFill>
                <a:latin typeface="Microsoft YaHei"/>
              </a:defRPr>
            </a:pPr>
            <a:r>
              <a:t>— 幼儿园开托班+国企机关社会力量共同办托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84048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0A0A0A"/>
                </a:solidFill>
                <a:latin typeface="Microsoft YaHei"/>
              </a:defRPr>
            </a:pPr>
            <a:r>
              <a:t>— 按入托人数补贴+租金减免，加强监管提升信任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4663440"/>
            <a:ext cx="4754880" cy="109728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4800600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002FA7"/>
                </a:solidFill>
                <a:latin typeface="Microsoft YaHei"/>
              </a:defRPr>
            </a:pPr>
            <a:r>
              <a:t>核心目标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983480"/>
            <a:ext cx="43891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A0A0A"/>
                </a:solidFill>
                <a:latin typeface="Microsoft YaHei"/>
              </a:defRPr>
            </a:pPr>
            <a:r>
              <a:t>让普惠托育"够得着、信得过、付得起"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737373"/>
                </a:solidFill>
                <a:latin typeface="Microsoft YaHei"/>
              </a:defRPr>
            </a:pPr>
            <a:r>
              <a:t>决策咨询专报 · 2026.05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22860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737373"/>
                </a:solidFill>
                <a:latin typeface="Microsoft YaHei"/>
              </a:defRPr>
            </a:pPr>
            <a:r>
              <a:t>09 /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30352"/>
            <a:ext cx="1109441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4114800" cy="512064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9999BB"/>
                </a:solidFill>
                <a:latin typeface="Microsoft YaHei"/>
              </a:defRPr>
            </a:pPr>
            <a:r>
              <a:t>MEASURES 03 &amp;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329184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教育减负</a:t>
            </a:r>
            <a:br/>
            <a:r>
              <a:t>+ 住房就业</a:t>
            </a:r>
            <a:br/>
            <a:r>
              <a:t>支持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06240"/>
            <a:ext cx="32918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AAACC"/>
                </a:solidFill>
                <a:latin typeface="Microsoft YaHei"/>
              </a:defRPr>
            </a:pPr>
            <a:r>
              <a:t>降低家庭长期成本</a:t>
            </a:r>
            <a:br/>
            <a:r>
              <a:t>与生育机会成本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77799"/>
                </a:solidFill>
                <a:latin typeface="Microsoft YaHei"/>
              </a:defRPr>
            </a:pPr>
            <a:r>
              <a:t>降成本 · 优服务 · 稳预期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097280"/>
            <a:ext cx="6583680" cy="210312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0" y="1188720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002FA7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207008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A0A0A"/>
                </a:solidFill>
                <a:latin typeface="Microsoft YaHei"/>
              </a:defRPr>
            </a:pPr>
            <a:r>
              <a:t>压减教育"隐性支出"和"焦虑支出"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645920"/>
            <a:ext cx="530352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0A0A0A"/>
                </a:solidFill>
                <a:latin typeface="Microsoft YaHei"/>
              </a:defRPr>
            </a:pPr>
            <a:r>
              <a:t>义务教育优质均衡发展，扩大优质学校和学位供给，缩小区域、城乡、校际差距。提升中小学课后服务质量，丰富体育、艺术、科技和托管内容。对校服、教辅、研学等收费项目实行清单化、公开化管理，严控不合理收费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3383280"/>
            <a:ext cx="6583680" cy="210312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60" y="3474720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002FA7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493008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A0A0A"/>
                </a:solidFill>
                <a:latin typeface="Microsoft YaHei"/>
              </a:defRPr>
            </a:pPr>
            <a:r>
              <a:t>住房就业家庭支持政策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931920"/>
            <a:ext cx="530352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0A0A0A"/>
                </a:solidFill>
                <a:latin typeface="Microsoft YaHei"/>
              </a:defRPr>
            </a:pPr>
            <a:r>
              <a:t>对多孩家庭在保障性租赁住房、公积金贷款额度、购房资格和契税减免等方面给予倾斜。完善生育假期成本共担机制，推广弹性上下班、远程办公、"妈妈岗"等制度，强化反就业性别歧视监察。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0" y="5669280"/>
            <a:ext cx="6583680" cy="54864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0" y="576072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002FA7"/>
                </a:solidFill>
                <a:latin typeface="Microsoft YaHei"/>
              </a:defRPr>
            </a:pPr>
            <a:r>
              <a:t>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576072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0A0A0A"/>
                </a:solidFill>
                <a:latin typeface="Microsoft YaHei"/>
              </a:defRPr>
            </a:pPr>
            <a:r>
              <a:t>为青年家庭创造稳定可预期的生育环境，让"想生"变为"敢生"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FA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AAACC"/>
                </a:solidFill>
                <a:latin typeface="Microsoft YaHei"/>
              </a:defRPr>
            </a:pPr>
            <a:r>
              <a:t>10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31375" y="22860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AAAACC"/>
                </a:solidFill>
                <a:latin typeface="Microsoft YaHei"/>
              </a:defRPr>
            </a:pPr>
            <a:r>
              <a:t>CLOSING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91440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5000" b="1">
                <a:solidFill>
                  <a:srgbClr val="FFFFFF"/>
                </a:solidFill>
                <a:latin typeface="Microsoft YaHei"/>
              </a:defRPr>
            </a:pPr>
            <a:r>
              <a:t>降低生育养育</a:t>
            </a:r>
            <a:br/>
            <a:r>
              <a:t>教育成本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657600"/>
            <a:ext cx="1828800" cy="50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CCCCDD"/>
                </a:solidFill>
                <a:latin typeface="Microsoft YaHei"/>
              </a:defRPr>
            </a:pPr>
            <a:r>
              <a:t>浙江应发挥共同富裕示范区制度优势</a:t>
            </a:r>
            <a:br/>
            <a:r>
              <a:t>为全国人口高质量发展提供"浙江方案"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37160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8888AA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14173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降成本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1783080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BBBDD"/>
                </a:solidFill>
                <a:latin typeface="Microsoft YaHei"/>
              </a:defRPr>
            </a:pPr>
            <a:r>
              <a:t>完善生育支持与医疗减负，降低首期成本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83464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8888AA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88036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优服务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3246120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BBBDD"/>
                </a:solidFill>
                <a:latin typeface="Microsoft YaHei"/>
              </a:defRPr>
            </a:pPr>
            <a:r>
              <a:t>构建普惠托育体系，压减教育隐性支出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29768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02FA7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43434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稳预期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4709160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BBBDD"/>
                </a:solidFill>
                <a:latin typeface="Microsoft YaHei"/>
              </a:defRPr>
            </a:pPr>
            <a:r>
              <a:t>住房就业家庭支持，降低生育机会成本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585216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BB"/>
                </a:solidFill>
                <a:latin typeface="Microsoft YaHei"/>
              </a:defRPr>
            </a:pPr>
            <a:r>
              <a:t>→ 完 · 感谢阅读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